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ubik" charset="1" panose="00000000000000000000"/>
      <p:regular r:id="rId19"/>
    </p:embeddedFont>
    <p:embeddedFont>
      <p:font typeface="ITC Motter Corpus Semicondensed" charset="1" panose="04020A05040802020202"/>
      <p:regular r:id="rId20"/>
    </p:embeddedFont>
    <p:embeddedFont>
      <p:font typeface="Rubik Bold" charset="1" panose="00000800000000000000"/>
      <p:regular r:id="rId21"/>
    </p:embeddedFont>
    <p:embeddedFont>
      <p:font typeface="ITC Motter Corpus Regular" charset="1" panose="0200050505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09477" y="2117012"/>
            <a:ext cx="10332041" cy="6052975"/>
            <a:chOff x="0" y="0"/>
            <a:chExt cx="13776055" cy="807063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13732"/>
              <a:ext cx="13776055" cy="1456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</a:pPr>
              <a:r>
                <a:rPr lang="en-US" sz="3200">
                  <a:solidFill>
                    <a:srgbClr val="2D2D30"/>
                  </a:solidFill>
                  <a:latin typeface="Rubik"/>
                  <a:ea typeface="Rubik"/>
                  <a:cs typeface="Rubik"/>
                  <a:sym typeface="Rubik"/>
                </a:rPr>
                <a:t>Reducing Gender Bias in Clinical Practice. Presented by: Amer Harfoush - Registration Number: 2401810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3776055" cy="6072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40"/>
                </a:lnSpc>
              </a:pPr>
              <a:r>
                <a:rPr lang="en-US" b="true" sz="10400">
                  <a:solidFill>
                    <a:srgbClr val="2D2D30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AI-Powered ADHD Diagnosis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6853714" cy="10287000"/>
          </a:xfrm>
          <a:custGeom>
            <a:avLst/>
            <a:gdLst/>
            <a:ahLst/>
            <a:cxnLst/>
            <a:rect r="r" b="b" t="t" l="l"/>
            <a:pathLst>
              <a:path h="10287000" w="6853714">
                <a:moveTo>
                  <a:pt x="0" y="0"/>
                </a:moveTo>
                <a:lnTo>
                  <a:pt x="6853714" y="0"/>
                </a:lnTo>
                <a:lnTo>
                  <a:pt x="6853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7083" y="0"/>
            <a:ext cx="9960917" cy="10384709"/>
            <a:chOff x="0" y="0"/>
            <a:chExt cx="1251518" cy="13047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1518" cy="1304764"/>
            </a:xfrm>
            <a:custGeom>
              <a:avLst/>
              <a:gdLst/>
              <a:ahLst/>
              <a:cxnLst/>
              <a:rect r="r" b="b" t="t" l="l"/>
              <a:pathLst>
                <a:path h="1304764" w="1251518">
                  <a:moveTo>
                    <a:pt x="0" y="0"/>
                  </a:moveTo>
                  <a:lnTo>
                    <a:pt x="1251518" y="0"/>
                  </a:lnTo>
                  <a:lnTo>
                    <a:pt x="1251518" y="1304764"/>
                  </a:lnTo>
                  <a:lnTo>
                    <a:pt x="0" y="1304764"/>
                  </a:lnTo>
                  <a:close/>
                </a:path>
              </a:pathLst>
            </a:custGeom>
            <a:blipFill>
              <a:blip r:embed="rId2"/>
              <a:stretch>
                <a:fillRect l="-2127" t="0" r="-212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31573" y="3421705"/>
            <a:ext cx="7526884" cy="549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665" indent="-286333" lvl="1">
              <a:lnSpc>
                <a:spcPts val="3952"/>
              </a:lnSpc>
              <a:buFont typeface="Arial"/>
              <a:buChar char="•"/>
            </a:pPr>
            <a:r>
              <a:rPr lang="en-US" sz="2652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Diagnosing </a:t>
            </a:r>
            <a:r>
              <a:rPr lang="en-US" b="true" sz="2652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ADHD</a:t>
            </a:r>
            <a:r>
              <a:rPr lang="en-US" sz="2652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, especially in females, has been challenging, causing prolonged suffering.</a:t>
            </a:r>
          </a:p>
          <a:p>
            <a:pPr algn="l">
              <a:lnSpc>
                <a:spcPts val="3952"/>
              </a:lnSpc>
            </a:pPr>
          </a:p>
          <a:p>
            <a:pPr algn="l" marL="572665" indent="-286333" lvl="1">
              <a:lnSpc>
                <a:spcPts val="3952"/>
              </a:lnSpc>
              <a:buFont typeface="Arial"/>
              <a:buChar char="•"/>
            </a:pPr>
            <a:r>
              <a:rPr lang="en-US" sz="2652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 project develops an AI model to accurately diagnose ADHD across genders and </a:t>
            </a:r>
            <a:r>
              <a:rPr lang="en-US" b="true" sz="2652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identify patient gender</a:t>
            </a:r>
            <a:r>
              <a:rPr lang="en-US" sz="2652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3952"/>
              </a:lnSpc>
            </a:pPr>
          </a:p>
          <a:p>
            <a:pPr algn="l" marL="572665" indent="-286333" lvl="1">
              <a:lnSpc>
                <a:spcPts val="3952"/>
              </a:lnSpc>
              <a:buFont typeface="Arial"/>
              <a:buChar char="•"/>
            </a:pPr>
            <a:r>
              <a:rPr lang="en-US" sz="2652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Creates</a:t>
            </a:r>
            <a:r>
              <a:rPr lang="en-US" sz="2652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an explainable model to </a:t>
            </a:r>
            <a:r>
              <a:rPr lang="en-US" b="true" sz="2652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assist GPs</a:t>
            </a:r>
            <a:r>
              <a:rPr lang="en-US" sz="2652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in prioritizing overlooked patients.</a:t>
            </a:r>
          </a:p>
          <a:p>
            <a:pPr algn="l">
              <a:lnSpc>
                <a:spcPts val="395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97545"/>
            <a:ext cx="6732631" cy="280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62"/>
              </a:lnSpc>
            </a:pPr>
            <a:r>
              <a:rPr lang="en-US" sz="9329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66059" y="3858597"/>
            <a:ext cx="3754677" cy="1696017"/>
            <a:chOff x="0" y="0"/>
            <a:chExt cx="922151" cy="416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2151" cy="416543"/>
            </a:xfrm>
            <a:custGeom>
              <a:avLst/>
              <a:gdLst/>
              <a:ahLst/>
              <a:cxnLst/>
              <a:rect r="r" b="b" t="t" l="l"/>
              <a:pathLst>
                <a:path h="416543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22151" cy="473693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20735" y="3858597"/>
            <a:ext cx="8467265" cy="1704545"/>
            <a:chOff x="0" y="0"/>
            <a:chExt cx="2079565" cy="4186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9565" cy="418637"/>
            </a:xfrm>
            <a:custGeom>
              <a:avLst/>
              <a:gdLst/>
              <a:ahLst/>
              <a:cxnLst/>
              <a:rect r="r" b="b" t="t" l="l"/>
              <a:pathLst>
                <a:path h="418637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8637"/>
                  </a:lnTo>
                  <a:lnTo>
                    <a:pt x="0" y="418637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79565" cy="475787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03431" y="9144949"/>
            <a:ext cx="1050538" cy="1050538"/>
          </a:xfrm>
          <a:custGeom>
            <a:avLst/>
            <a:gdLst/>
            <a:ahLst/>
            <a:cxnLst/>
            <a:rect r="r" b="b" t="t" l="l"/>
            <a:pathLst>
              <a:path h="1050538" w="1050538">
                <a:moveTo>
                  <a:pt x="0" y="0"/>
                </a:moveTo>
                <a:lnTo>
                  <a:pt x="1050538" y="0"/>
                </a:lnTo>
                <a:lnTo>
                  <a:pt x="1050538" y="1050538"/>
                </a:lnTo>
                <a:lnTo>
                  <a:pt x="0" y="1050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5554614"/>
            <a:ext cx="6099188" cy="4640873"/>
          </a:xfrm>
          <a:custGeom>
            <a:avLst/>
            <a:gdLst/>
            <a:ahLst/>
            <a:cxnLst/>
            <a:rect r="r" b="b" t="t" l="l"/>
            <a:pathLst>
              <a:path h="4640873" w="6099188">
                <a:moveTo>
                  <a:pt x="0" y="0"/>
                </a:moveTo>
                <a:lnTo>
                  <a:pt x="6099188" y="0"/>
                </a:lnTo>
                <a:lnTo>
                  <a:pt x="6099188" y="4640873"/>
                </a:lnTo>
                <a:lnTo>
                  <a:pt x="0" y="4640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95488" y="4298120"/>
            <a:ext cx="2895817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DATA 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84823" y="4379437"/>
            <a:ext cx="7339089" cy="60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2"/>
              </a:lnSpc>
              <a:spcBef>
                <a:spcPct val="0"/>
              </a:spcBef>
            </a:pP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P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reprocessing involved cleaning and normalizing d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ata collected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o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enh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an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ce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mod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el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true" sz="1737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accuracy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and response time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66059" y="1224044"/>
            <a:ext cx="9902362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4"/>
              </a:lnSpc>
            </a:pPr>
            <a:r>
              <a:rPr lang="en-US" b="true" sz="6749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Summary of Methodology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2579"/>
            <a:ext cx="5606510" cy="10284421"/>
            <a:chOff x="0" y="0"/>
            <a:chExt cx="764194" cy="14018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4194" cy="1401815"/>
            </a:xfrm>
            <a:custGeom>
              <a:avLst/>
              <a:gdLst/>
              <a:ahLst/>
              <a:cxnLst/>
              <a:rect r="r" b="b" t="t" l="l"/>
              <a:pathLst>
                <a:path h="1401815" w="764194">
                  <a:moveTo>
                    <a:pt x="0" y="0"/>
                  </a:moveTo>
                  <a:lnTo>
                    <a:pt x="764194" y="0"/>
                  </a:lnTo>
                  <a:lnTo>
                    <a:pt x="764194" y="1401815"/>
                  </a:lnTo>
                  <a:lnTo>
                    <a:pt x="0" y="1401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0" y="2579"/>
            <a:ext cx="5637434" cy="10284421"/>
            <a:chOff x="0" y="0"/>
            <a:chExt cx="768409" cy="14018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8409" cy="1401815"/>
            </a:xfrm>
            <a:custGeom>
              <a:avLst/>
              <a:gdLst/>
              <a:ahLst/>
              <a:cxnLst/>
              <a:rect r="r" b="b" t="t" l="l"/>
              <a:pathLst>
                <a:path h="1401815" w="768409">
                  <a:moveTo>
                    <a:pt x="0" y="0"/>
                  </a:moveTo>
                  <a:lnTo>
                    <a:pt x="768409" y="0"/>
                  </a:lnTo>
                  <a:lnTo>
                    <a:pt x="768409" y="1401815"/>
                  </a:lnTo>
                  <a:lnTo>
                    <a:pt x="0" y="1401815"/>
                  </a:lnTo>
                  <a:close/>
                </a:path>
              </a:pathLst>
            </a:custGeom>
            <a:blipFill>
              <a:blip r:embed="rId5"/>
              <a:stretch>
                <a:fillRect l="-41215" t="0" r="-41215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66059" y="2830701"/>
            <a:ext cx="3754677" cy="1696017"/>
            <a:chOff x="0" y="0"/>
            <a:chExt cx="922151" cy="416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2151" cy="416543"/>
            </a:xfrm>
            <a:custGeom>
              <a:avLst/>
              <a:gdLst/>
              <a:ahLst/>
              <a:cxnLst/>
              <a:rect r="r" b="b" t="t" l="l"/>
              <a:pathLst>
                <a:path h="416543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22151" cy="473693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66059" y="4526718"/>
            <a:ext cx="3754677" cy="1683353"/>
            <a:chOff x="0" y="0"/>
            <a:chExt cx="922151" cy="413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20735" y="2830701"/>
            <a:ext cx="8467265" cy="1704545"/>
            <a:chOff x="0" y="0"/>
            <a:chExt cx="2079565" cy="4186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9565" cy="418637"/>
            </a:xfrm>
            <a:custGeom>
              <a:avLst/>
              <a:gdLst/>
              <a:ahLst/>
              <a:cxnLst/>
              <a:rect r="r" b="b" t="t" l="l"/>
              <a:pathLst>
                <a:path h="418637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8637"/>
                  </a:lnTo>
                  <a:lnTo>
                    <a:pt x="0" y="418637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79565" cy="475787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20735" y="4526718"/>
            <a:ext cx="8467265" cy="1696017"/>
            <a:chOff x="0" y="0"/>
            <a:chExt cx="2079565" cy="4165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03431" y="9144949"/>
            <a:ext cx="1050538" cy="1050538"/>
          </a:xfrm>
          <a:custGeom>
            <a:avLst/>
            <a:gdLst/>
            <a:ahLst/>
            <a:cxnLst/>
            <a:rect r="r" b="b" t="t" l="l"/>
            <a:pathLst>
              <a:path h="1050538" w="1050538">
                <a:moveTo>
                  <a:pt x="0" y="0"/>
                </a:moveTo>
                <a:lnTo>
                  <a:pt x="1050538" y="0"/>
                </a:lnTo>
                <a:lnTo>
                  <a:pt x="1050538" y="1050538"/>
                </a:lnTo>
                <a:lnTo>
                  <a:pt x="0" y="1050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93196" y="6311272"/>
            <a:ext cx="8736725" cy="3978307"/>
          </a:xfrm>
          <a:custGeom>
            <a:avLst/>
            <a:gdLst/>
            <a:ahLst/>
            <a:cxnLst/>
            <a:rect r="r" b="b" t="t" l="l"/>
            <a:pathLst>
              <a:path h="3978307" w="8736725">
                <a:moveTo>
                  <a:pt x="0" y="0"/>
                </a:moveTo>
                <a:lnTo>
                  <a:pt x="8736726" y="0"/>
                </a:lnTo>
                <a:lnTo>
                  <a:pt x="8736726" y="3978307"/>
                </a:lnTo>
                <a:lnTo>
                  <a:pt x="0" y="3978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33" t="0" r="-453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495488" y="3270224"/>
            <a:ext cx="2895817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DATA PREPROCESSING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02175" y="4979636"/>
            <a:ext cx="2082444" cy="70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2"/>
              </a:lnSpc>
              <a:spcBef>
                <a:spcPct val="0"/>
              </a:spcBef>
            </a:pPr>
            <a:r>
              <a:rPr lang="en-US" sz="1930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MODEL SELECTION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84823" y="3351541"/>
            <a:ext cx="7339089" cy="60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2"/>
              </a:lnSpc>
              <a:spcBef>
                <a:spcPct val="0"/>
              </a:spcBef>
            </a:pP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P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reprocessing involved cleaning and normalizing d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ata collected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o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enh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an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ce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mod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el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true" sz="1737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accuracy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and response time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84823" y="5199957"/>
            <a:ext cx="7339089" cy="29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2"/>
              </a:lnSpc>
              <a:spcBef>
                <a:spcPct val="0"/>
              </a:spcBef>
            </a:pP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Choosing the model according to their </a:t>
            </a:r>
            <a:r>
              <a:rPr lang="en-US" b="true" sz="1737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performance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in each task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66059" y="401022"/>
            <a:ext cx="9902362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4"/>
              </a:lnSpc>
            </a:pPr>
            <a:r>
              <a:rPr lang="en-US" b="true" sz="6749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Summary of Methodology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0" y="2579"/>
            <a:ext cx="5606510" cy="10284421"/>
            <a:chOff x="0" y="0"/>
            <a:chExt cx="764194" cy="14018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4194" cy="1401815"/>
            </a:xfrm>
            <a:custGeom>
              <a:avLst/>
              <a:gdLst/>
              <a:ahLst/>
              <a:cxnLst/>
              <a:rect r="r" b="b" t="t" l="l"/>
              <a:pathLst>
                <a:path h="1401815" w="764194">
                  <a:moveTo>
                    <a:pt x="0" y="0"/>
                  </a:moveTo>
                  <a:lnTo>
                    <a:pt x="764194" y="0"/>
                  </a:lnTo>
                  <a:lnTo>
                    <a:pt x="764194" y="1401815"/>
                  </a:lnTo>
                  <a:lnTo>
                    <a:pt x="0" y="14018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0" y="2579"/>
            <a:ext cx="5637434" cy="10284421"/>
            <a:chOff x="0" y="0"/>
            <a:chExt cx="768409" cy="14018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8409" cy="1401815"/>
            </a:xfrm>
            <a:custGeom>
              <a:avLst/>
              <a:gdLst/>
              <a:ahLst/>
              <a:cxnLst/>
              <a:rect r="r" b="b" t="t" l="l"/>
              <a:pathLst>
                <a:path h="1401815" w="768409">
                  <a:moveTo>
                    <a:pt x="0" y="0"/>
                  </a:moveTo>
                  <a:lnTo>
                    <a:pt x="768409" y="0"/>
                  </a:lnTo>
                  <a:lnTo>
                    <a:pt x="768409" y="1401815"/>
                  </a:lnTo>
                  <a:lnTo>
                    <a:pt x="0" y="1401815"/>
                  </a:lnTo>
                  <a:close/>
                </a:path>
              </a:pathLst>
            </a:custGeom>
            <a:blipFill>
              <a:blip r:embed="rId5"/>
              <a:stretch>
                <a:fillRect l="-41215" t="0" r="-41215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66059" y="6103191"/>
            <a:ext cx="3754677" cy="1683353"/>
            <a:chOff x="0" y="0"/>
            <a:chExt cx="922151" cy="4134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20735" y="6090527"/>
            <a:ext cx="8467265" cy="1696017"/>
            <a:chOff x="0" y="0"/>
            <a:chExt cx="2079565" cy="416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2579"/>
            <a:ext cx="5637434" cy="10284421"/>
            <a:chOff x="0" y="0"/>
            <a:chExt cx="768409" cy="14018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8409" cy="1401815"/>
            </a:xfrm>
            <a:custGeom>
              <a:avLst/>
              <a:gdLst/>
              <a:ahLst/>
              <a:cxnLst/>
              <a:rect r="r" b="b" t="t" l="l"/>
              <a:pathLst>
                <a:path h="1401815" w="768409">
                  <a:moveTo>
                    <a:pt x="0" y="0"/>
                  </a:moveTo>
                  <a:lnTo>
                    <a:pt x="768409" y="0"/>
                  </a:lnTo>
                  <a:lnTo>
                    <a:pt x="768409" y="1401815"/>
                  </a:lnTo>
                  <a:lnTo>
                    <a:pt x="0" y="1401815"/>
                  </a:lnTo>
                  <a:close/>
                </a:path>
              </a:pathLst>
            </a:custGeom>
            <a:blipFill>
              <a:blip r:embed="rId2"/>
              <a:stretch>
                <a:fillRect l="-41215" t="0" r="-4121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66059" y="2830701"/>
            <a:ext cx="3754677" cy="1696017"/>
            <a:chOff x="0" y="0"/>
            <a:chExt cx="922151" cy="4165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2151" cy="416543"/>
            </a:xfrm>
            <a:custGeom>
              <a:avLst/>
              <a:gdLst/>
              <a:ahLst/>
              <a:cxnLst/>
              <a:rect r="r" b="b" t="t" l="l"/>
              <a:pathLst>
                <a:path h="416543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22151" cy="473693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66059" y="4526718"/>
            <a:ext cx="3754677" cy="1683353"/>
            <a:chOff x="0" y="0"/>
            <a:chExt cx="922151" cy="413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20735" y="2830701"/>
            <a:ext cx="8467265" cy="1704545"/>
            <a:chOff x="0" y="0"/>
            <a:chExt cx="2079565" cy="4186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9565" cy="418637"/>
            </a:xfrm>
            <a:custGeom>
              <a:avLst/>
              <a:gdLst/>
              <a:ahLst/>
              <a:cxnLst/>
              <a:rect r="r" b="b" t="t" l="l"/>
              <a:pathLst>
                <a:path h="418637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8637"/>
                  </a:lnTo>
                  <a:lnTo>
                    <a:pt x="0" y="418637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079565" cy="475787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20735" y="4526718"/>
            <a:ext cx="8467265" cy="1696017"/>
            <a:chOff x="0" y="0"/>
            <a:chExt cx="2079565" cy="4165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4476" lIns="54476" bIns="54476" rIns="54476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900818" y="6556110"/>
            <a:ext cx="2085157" cy="70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2"/>
              </a:lnSpc>
              <a:spcBef>
                <a:spcPct val="0"/>
              </a:spcBef>
            </a:pPr>
            <a:r>
              <a:rPr lang="en-US" sz="1930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MODEL EVALUATION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84823" y="6593542"/>
            <a:ext cx="7339089" cy="63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67"/>
              </a:lnSpc>
              <a:spcBef>
                <a:spcPct val="0"/>
              </a:spcBef>
            </a:pPr>
            <a:r>
              <a:rPr lang="en-US" sz="1833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Evaluation of models included metrics like precision, recall, and </a:t>
            </a:r>
            <a:r>
              <a:rPr lang="en-US" b="true" sz="1833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Confusion Matrix</a:t>
            </a:r>
            <a:r>
              <a:rPr lang="en-US" sz="1833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66059" y="401022"/>
            <a:ext cx="9902362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4"/>
              </a:lnSpc>
            </a:pPr>
            <a:r>
              <a:rPr lang="en-US" b="true" sz="6749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Summary of Methodology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95488" y="3270224"/>
            <a:ext cx="2895817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DATA PREPROCESSING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02175" y="4979636"/>
            <a:ext cx="2082444" cy="701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2"/>
              </a:lnSpc>
              <a:spcBef>
                <a:spcPct val="0"/>
              </a:spcBef>
            </a:pPr>
            <a:r>
              <a:rPr lang="en-US" sz="1930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MODEL SELECTION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84823" y="3351541"/>
            <a:ext cx="7339089" cy="60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2"/>
              </a:lnSpc>
              <a:spcBef>
                <a:spcPct val="0"/>
              </a:spcBef>
            </a:pP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P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reprocessing involved cleaning and normalizing d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ata collected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o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enh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an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ce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mod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el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b="true" sz="1737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accuracy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and response time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84823" y="5199957"/>
            <a:ext cx="7339089" cy="29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2"/>
              </a:lnSpc>
              <a:spcBef>
                <a:spcPct val="0"/>
              </a:spcBef>
            </a:pP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Choosing the model according to their </a:t>
            </a:r>
            <a:r>
              <a:rPr lang="en-US" b="true" sz="1737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performance </a:t>
            </a:r>
            <a:r>
              <a:rPr lang="en-US" sz="173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in each task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304007"/>
            <a:ext cx="8629650" cy="5982993"/>
            <a:chOff x="0" y="0"/>
            <a:chExt cx="1950378" cy="13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378" cy="1352210"/>
            </a:xfrm>
            <a:custGeom>
              <a:avLst/>
              <a:gdLst/>
              <a:ahLst/>
              <a:cxnLst/>
              <a:rect r="r" b="b" t="t" l="l"/>
              <a:pathLst>
                <a:path h="1352210" w="1950378">
                  <a:moveTo>
                    <a:pt x="0" y="0"/>
                  </a:moveTo>
                  <a:lnTo>
                    <a:pt x="1950378" y="0"/>
                  </a:lnTo>
                  <a:lnTo>
                    <a:pt x="1950378" y="1352210"/>
                  </a:lnTo>
                  <a:lnTo>
                    <a:pt x="0" y="1352210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0378" cy="1390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4700405" y="-170039"/>
            <a:ext cx="3587595" cy="4642770"/>
          </a:xfrm>
          <a:custGeom>
            <a:avLst/>
            <a:gdLst/>
            <a:ahLst/>
            <a:cxnLst/>
            <a:rect r="r" b="b" t="t" l="l"/>
            <a:pathLst>
              <a:path h="4642770" w="3587595">
                <a:moveTo>
                  <a:pt x="0" y="0"/>
                </a:moveTo>
                <a:lnTo>
                  <a:pt x="3587595" y="0"/>
                </a:lnTo>
                <a:lnTo>
                  <a:pt x="3587595" y="4642770"/>
                </a:lnTo>
                <a:lnTo>
                  <a:pt x="0" y="4642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58350" y="4304007"/>
            <a:ext cx="8629650" cy="5982993"/>
            <a:chOff x="0" y="0"/>
            <a:chExt cx="1950378" cy="1352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378" cy="1352210"/>
            </a:xfrm>
            <a:custGeom>
              <a:avLst/>
              <a:gdLst/>
              <a:ahLst/>
              <a:cxnLst/>
              <a:rect r="r" b="b" t="t" l="l"/>
              <a:pathLst>
                <a:path h="1352210" w="1950378">
                  <a:moveTo>
                    <a:pt x="0" y="0"/>
                  </a:moveTo>
                  <a:lnTo>
                    <a:pt x="1950378" y="0"/>
                  </a:lnTo>
                  <a:lnTo>
                    <a:pt x="1950378" y="1352210"/>
                  </a:lnTo>
                  <a:lnTo>
                    <a:pt x="0" y="1352210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0378" cy="1390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6691" y="6170524"/>
            <a:ext cx="8466637" cy="1975549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-100740" y="4304007"/>
            <a:ext cx="1129440" cy="5982993"/>
          </a:xfrm>
          <a:custGeom>
            <a:avLst/>
            <a:gdLst/>
            <a:ahLst/>
            <a:cxnLst/>
            <a:rect r="r" b="b" t="t" l="l"/>
            <a:pathLst>
              <a:path h="5982993" w="1129440">
                <a:moveTo>
                  <a:pt x="0" y="0"/>
                </a:moveTo>
                <a:lnTo>
                  <a:pt x="1129440" y="0"/>
                </a:lnTo>
                <a:lnTo>
                  <a:pt x="1129440" y="5982993"/>
                </a:lnTo>
                <a:lnTo>
                  <a:pt x="0" y="59829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197973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12244" y="4326876"/>
            <a:ext cx="8013612" cy="5960124"/>
          </a:xfrm>
          <a:custGeom>
            <a:avLst/>
            <a:gdLst/>
            <a:ahLst/>
            <a:cxnLst/>
            <a:rect r="r" b="b" t="t" l="l"/>
            <a:pathLst>
              <a:path h="5960124" w="8013612">
                <a:moveTo>
                  <a:pt x="0" y="0"/>
                </a:moveTo>
                <a:lnTo>
                  <a:pt x="8013612" y="0"/>
                </a:lnTo>
                <a:lnTo>
                  <a:pt x="8013612" y="5960124"/>
                </a:lnTo>
                <a:lnTo>
                  <a:pt x="0" y="59601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403827"/>
            <a:ext cx="13576077" cy="1878925"/>
            <a:chOff x="0" y="0"/>
            <a:chExt cx="18101436" cy="250523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26537"/>
              <a:ext cx="18101436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2D2D30"/>
                  </a:solidFill>
                  <a:latin typeface="Rubik"/>
                  <a:ea typeface="Rubik"/>
                  <a:cs typeface="Rubik"/>
                  <a:sym typeface="Rubik"/>
                </a:rPr>
                <a:t>Evaluating the effectiveness of our ADHD support model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85725"/>
              <a:ext cx="18101436" cy="1748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19"/>
                </a:lnSpc>
              </a:pPr>
              <a:r>
                <a:rPr lang="en-US" sz="8199">
                  <a:solidFill>
                    <a:srgbClr val="2D2D30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Model Performance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847482" y="4618971"/>
            <a:ext cx="8251385" cy="529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</a:pPr>
            <a:r>
              <a:rPr lang="en-US" sz="3599" b="true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Strengths:</a:t>
            </a:r>
          </a:p>
          <a:p>
            <a:pPr algn="ctr" marL="497886" indent="-248943" lvl="1">
              <a:lnSpc>
                <a:spcPts val="3228"/>
              </a:lnSpc>
              <a:buFont typeface="Arial"/>
              <a:buChar char="•"/>
            </a:pPr>
            <a:r>
              <a:rPr lang="en-US" sz="230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 model sh</a:t>
            </a:r>
            <a:r>
              <a:rPr lang="en-US" sz="230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ows </a:t>
            </a:r>
            <a:r>
              <a:rPr lang="en-US" b="true" sz="2306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strong sensitivity (recall) for ADHD</a:t>
            </a:r>
            <a:r>
              <a:rPr lang="en-US" sz="230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cases, which is critical in medical applications.</a:t>
            </a:r>
          </a:p>
          <a:p>
            <a:pPr algn="ctr" marL="497886" indent="-248943" lvl="1">
              <a:lnSpc>
                <a:spcPts val="3228"/>
              </a:lnSpc>
              <a:buFont typeface="Arial"/>
              <a:buChar char="•"/>
            </a:pPr>
            <a:r>
              <a:rPr lang="en-US" sz="230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It is more cautious about missing ADHD diagnoses, which aligns with the goal of supporting early detection.</a:t>
            </a:r>
          </a:p>
          <a:p>
            <a:pPr algn="ctr">
              <a:lnSpc>
                <a:spcPts val="3228"/>
              </a:lnSpc>
              <a:spcBef>
                <a:spcPct val="0"/>
              </a:spcBef>
            </a:pPr>
          </a:p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b="true" sz="3599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Consideration</a:t>
            </a:r>
            <a:r>
              <a:rPr lang="en-US" sz="3599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</a:p>
          <a:p>
            <a:pPr algn="ctr" marL="497886" indent="-248943" lvl="1">
              <a:lnSpc>
                <a:spcPts val="3228"/>
              </a:lnSpc>
              <a:buFont typeface="Arial"/>
              <a:buChar char="•"/>
            </a:pPr>
            <a:r>
              <a:rPr lang="en-US" sz="230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False negatives (missed ADHD diagnoses) remain a concern but are relatively low.</a:t>
            </a:r>
          </a:p>
          <a:p>
            <a:pPr algn="ctr" marL="497886" indent="-248943" lvl="1">
              <a:lnSpc>
                <a:spcPts val="3228"/>
              </a:lnSpc>
              <a:spcBef>
                <a:spcPct val="0"/>
              </a:spcBef>
              <a:buFont typeface="Arial"/>
              <a:buChar char="•"/>
            </a:pPr>
            <a:r>
              <a:rPr lang="en-US" sz="230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Overall, the model maintains a good balance, leaning slightly toward </a:t>
            </a:r>
            <a:r>
              <a:rPr lang="en-US" b="true" sz="2306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minimizing missed ADHD cases</a:t>
            </a:r>
            <a:r>
              <a:rPr lang="en-US" sz="230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, which is appropriate for this healthcare setting.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304007"/>
            <a:ext cx="8629650" cy="5982993"/>
            <a:chOff x="0" y="0"/>
            <a:chExt cx="1950378" cy="1352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378" cy="1352210"/>
            </a:xfrm>
            <a:custGeom>
              <a:avLst/>
              <a:gdLst/>
              <a:ahLst/>
              <a:cxnLst/>
              <a:rect r="r" b="b" t="t" l="l"/>
              <a:pathLst>
                <a:path h="1352210" w="1950378">
                  <a:moveTo>
                    <a:pt x="0" y="0"/>
                  </a:moveTo>
                  <a:lnTo>
                    <a:pt x="1950378" y="0"/>
                  </a:lnTo>
                  <a:lnTo>
                    <a:pt x="1950378" y="1352210"/>
                  </a:lnTo>
                  <a:lnTo>
                    <a:pt x="0" y="1352210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50378" cy="1390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4700405" y="-170039"/>
            <a:ext cx="3587595" cy="4642770"/>
          </a:xfrm>
          <a:custGeom>
            <a:avLst/>
            <a:gdLst/>
            <a:ahLst/>
            <a:cxnLst/>
            <a:rect r="r" b="b" t="t" l="l"/>
            <a:pathLst>
              <a:path h="4642770" w="3587595">
                <a:moveTo>
                  <a:pt x="0" y="0"/>
                </a:moveTo>
                <a:lnTo>
                  <a:pt x="3587595" y="0"/>
                </a:lnTo>
                <a:lnTo>
                  <a:pt x="3587595" y="4642770"/>
                </a:lnTo>
                <a:lnTo>
                  <a:pt x="0" y="4642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58350" y="4304007"/>
            <a:ext cx="8629650" cy="5982993"/>
            <a:chOff x="0" y="0"/>
            <a:chExt cx="1950378" cy="1352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378" cy="1352210"/>
            </a:xfrm>
            <a:custGeom>
              <a:avLst/>
              <a:gdLst/>
              <a:ahLst/>
              <a:cxnLst/>
              <a:rect r="r" b="b" t="t" l="l"/>
              <a:pathLst>
                <a:path h="1352210" w="1950378">
                  <a:moveTo>
                    <a:pt x="0" y="0"/>
                  </a:moveTo>
                  <a:lnTo>
                    <a:pt x="1950378" y="0"/>
                  </a:lnTo>
                  <a:lnTo>
                    <a:pt x="1950378" y="1352210"/>
                  </a:lnTo>
                  <a:lnTo>
                    <a:pt x="0" y="1352210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50378" cy="1390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100740" y="4304007"/>
            <a:ext cx="1129440" cy="5982993"/>
          </a:xfrm>
          <a:custGeom>
            <a:avLst/>
            <a:gdLst/>
            <a:ahLst/>
            <a:cxnLst/>
            <a:rect r="r" b="b" t="t" l="l"/>
            <a:pathLst>
              <a:path h="5982993" w="1129440">
                <a:moveTo>
                  <a:pt x="0" y="0"/>
                </a:moveTo>
                <a:lnTo>
                  <a:pt x="1129440" y="0"/>
                </a:lnTo>
                <a:lnTo>
                  <a:pt x="1129440" y="5982993"/>
                </a:lnTo>
                <a:lnTo>
                  <a:pt x="0" y="59829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97973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3050" y="4272554"/>
            <a:ext cx="8115300" cy="6045898"/>
          </a:xfrm>
          <a:custGeom>
            <a:avLst/>
            <a:gdLst/>
            <a:ahLst/>
            <a:cxnLst/>
            <a:rect r="r" b="b" t="t" l="l"/>
            <a:pathLst>
              <a:path h="6045898" w="8115300">
                <a:moveTo>
                  <a:pt x="0" y="0"/>
                </a:moveTo>
                <a:lnTo>
                  <a:pt x="8115300" y="0"/>
                </a:lnTo>
                <a:lnTo>
                  <a:pt x="8115300" y="6045899"/>
                </a:lnTo>
                <a:lnTo>
                  <a:pt x="0" y="60458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1403827"/>
            <a:ext cx="13576077" cy="1878925"/>
            <a:chOff x="0" y="0"/>
            <a:chExt cx="18101436" cy="250523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926537"/>
              <a:ext cx="18101436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2D2D30"/>
                  </a:solidFill>
                  <a:latin typeface="Rubik"/>
                  <a:ea typeface="Rubik"/>
                  <a:cs typeface="Rubik"/>
                  <a:sym typeface="Rubik"/>
                </a:rPr>
                <a:t>Understanding the influence of </a:t>
              </a:r>
              <a:r>
                <a:rPr lang="en-US" b="true" sz="2599">
                  <a:solidFill>
                    <a:srgbClr val="2D2D3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sex prediction</a:t>
              </a:r>
              <a:r>
                <a:rPr lang="en-US" sz="2599">
                  <a:solidFill>
                    <a:srgbClr val="2D2D30"/>
                  </a:solidFill>
                  <a:latin typeface="Rubik"/>
                  <a:ea typeface="Rubik"/>
                  <a:cs typeface="Rubik"/>
                  <a:sym typeface="Rubik"/>
                </a:rPr>
                <a:t> on ADHD diagnosis accuracy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85725"/>
              <a:ext cx="18101436" cy="1748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19"/>
                </a:lnSpc>
              </a:pPr>
              <a:r>
                <a:rPr lang="en-US" sz="8199">
                  <a:solidFill>
                    <a:srgbClr val="2D2D30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Bias Impact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71294" y="4724400"/>
            <a:ext cx="498774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2D2D30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96.8%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71294" y="5810250"/>
            <a:ext cx="7331756" cy="334645"/>
            <a:chOff x="0" y="0"/>
            <a:chExt cx="9775675" cy="44619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377667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2D2D3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ACCURACY RATE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144970" y="-47625"/>
              <a:ext cx="5630705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2D2D30"/>
                  </a:solidFill>
                  <a:latin typeface="Rubik"/>
                  <a:ea typeface="Rubik"/>
                  <a:cs typeface="Rubik"/>
                  <a:sym typeface="Rubik"/>
                </a:rPr>
                <a:t>For Male patients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471294" y="7440295"/>
            <a:ext cx="498774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2D2D30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21.2%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71294" y="8526145"/>
            <a:ext cx="7331756" cy="334645"/>
            <a:chOff x="0" y="0"/>
            <a:chExt cx="9775675" cy="446193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47625"/>
              <a:ext cx="377667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2D2D3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ACCURACY RATE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144970" y="-47625"/>
              <a:ext cx="5630705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2D2D30"/>
                  </a:solidFill>
                  <a:latin typeface="Rubik"/>
                  <a:ea typeface="Rubik"/>
                  <a:cs typeface="Rubik"/>
                  <a:sym typeface="Rubik"/>
                </a:rPr>
                <a:t>For Female patients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050857"/>
            <a:ext cx="5089657" cy="1238721"/>
            <a:chOff x="0" y="0"/>
            <a:chExt cx="2390308" cy="581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0308" cy="581753"/>
            </a:xfrm>
            <a:custGeom>
              <a:avLst/>
              <a:gdLst/>
              <a:ahLst/>
              <a:cxnLst/>
              <a:rect r="r" b="b" t="t" l="l"/>
              <a:pathLst>
                <a:path h="581753" w="2390308">
                  <a:moveTo>
                    <a:pt x="0" y="0"/>
                  </a:moveTo>
                  <a:lnTo>
                    <a:pt x="2390308" y="0"/>
                  </a:lnTo>
                  <a:lnTo>
                    <a:pt x="2390308" y="581753"/>
                  </a:lnTo>
                  <a:lnTo>
                    <a:pt x="0" y="581753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90308" cy="629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04132" y="2966485"/>
            <a:ext cx="3501291" cy="1581560"/>
            <a:chOff x="0" y="0"/>
            <a:chExt cx="922151" cy="416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2151" cy="416543"/>
            </a:xfrm>
            <a:custGeom>
              <a:avLst/>
              <a:gdLst/>
              <a:ahLst/>
              <a:cxnLst/>
              <a:rect r="r" b="b" t="t" l="l"/>
              <a:pathLst>
                <a:path h="416543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22151" cy="473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04132" y="4548045"/>
            <a:ext cx="3501291" cy="1569751"/>
            <a:chOff x="0" y="0"/>
            <a:chExt cx="922151" cy="413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04132" y="6117796"/>
            <a:ext cx="3501291" cy="1569751"/>
            <a:chOff x="0" y="0"/>
            <a:chExt cx="922151" cy="4134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105423" y="2966485"/>
            <a:ext cx="7895848" cy="1589513"/>
            <a:chOff x="0" y="0"/>
            <a:chExt cx="2079565" cy="4186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9565" cy="418637"/>
            </a:xfrm>
            <a:custGeom>
              <a:avLst/>
              <a:gdLst/>
              <a:ahLst/>
              <a:cxnLst/>
              <a:rect r="r" b="b" t="t" l="l"/>
              <a:pathLst>
                <a:path h="418637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8637"/>
                  </a:lnTo>
                  <a:lnTo>
                    <a:pt x="0" y="418637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079565" cy="475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05423" y="4548045"/>
            <a:ext cx="7895848" cy="1581560"/>
            <a:chOff x="0" y="0"/>
            <a:chExt cx="2079565" cy="4165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105423" y="6105986"/>
            <a:ext cx="7895848" cy="1581560"/>
            <a:chOff x="0" y="0"/>
            <a:chExt cx="2079565" cy="4165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2579"/>
            <a:ext cx="6328237" cy="10287000"/>
            <a:chOff x="0" y="0"/>
            <a:chExt cx="862352" cy="14018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2352" cy="1401815"/>
            </a:xfrm>
            <a:custGeom>
              <a:avLst/>
              <a:gdLst/>
              <a:ahLst/>
              <a:cxnLst/>
              <a:rect r="r" b="b" t="t" l="l"/>
              <a:pathLst>
                <a:path h="1401815" w="862352">
                  <a:moveTo>
                    <a:pt x="0" y="0"/>
                  </a:moveTo>
                  <a:lnTo>
                    <a:pt x="862352" y="0"/>
                  </a:lnTo>
                  <a:lnTo>
                    <a:pt x="862352" y="1401815"/>
                  </a:lnTo>
                  <a:lnTo>
                    <a:pt x="0" y="1401815"/>
                  </a:lnTo>
                  <a:close/>
                </a:path>
              </a:pathLst>
            </a:custGeom>
            <a:blipFill>
              <a:blip r:embed="rId2"/>
              <a:stretch>
                <a:fillRect l="-4151" t="0" r="-4151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04132" y="7575198"/>
            <a:ext cx="3501291" cy="1569751"/>
            <a:chOff x="0" y="0"/>
            <a:chExt cx="922151" cy="413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105423" y="7563389"/>
            <a:ext cx="7895848" cy="1581560"/>
            <a:chOff x="0" y="0"/>
            <a:chExt cx="2079565" cy="4165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405031" y="3357343"/>
            <a:ext cx="1899493" cy="7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MODEL SUPPORT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83822" y="5110353"/>
            <a:ext cx="1941909" cy="368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LIMITATIONS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82557" y="6508654"/>
            <a:ext cx="1944439" cy="7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BIAS AWARENESS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31443" y="3421509"/>
            <a:ext cx="6843808" cy="62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 ADHD model provides </a:t>
            </a:r>
            <a:r>
              <a:rPr lang="en-US" b="true" sz="1777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valuable insights</a:t>
            </a:r>
            <a:r>
              <a:rPr lang="en-US" sz="177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for clinicians in diagnosis.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31443" y="5003070"/>
            <a:ext cx="6843808" cy="62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Sex model limitations warrant </a:t>
            </a:r>
            <a:r>
              <a:rPr lang="en-US" b="true" sz="1777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careful consideration</a:t>
            </a:r>
            <a:r>
              <a:rPr lang="en-US" sz="177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for interpretation of results.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631443" y="6533690"/>
            <a:ext cx="6843808" cy="66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There is a difference in accuracy in diagnosing ADHD patients between males and females </a:t>
            </a:r>
            <a:r>
              <a:rPr lang="en-US" b="true" sz="1876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(4.5%)</a:t>
            </a: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in favor of male patients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604132" y="353812"/>
            <a:ext cx="9902362" cy="222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46"/>
              </a:lnSpc>
            </a:pPr>
            <a:r>
              <a:rPr lang="en-US" b="true" sz="7406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Insights &amp; Recommendations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82557" y="7966056"/>
            <a:ext cx="1944439" cy="7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MODEL ACCURACY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31443" y="8157780"/>
            <a:ext cx="6843808" cy="33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 Model provides an </a:t>
            </a:r>
            <a:r>
              <a:rPr lang="en-US" b="true" sz="1876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overall accuracy of 78.2%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050857"/>
            <a:ext cx="5089657" cy="1238721"/>
            <a:chOff x="0" y="0"/>
            <a:chExt cx="2390308" cy="581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0308" cy="581753"/>
            </a:xfrm>
            <a:custGeom>
              <a:avLst/>
              <a:gdLst/>
              <a:ahLst/>
              <a:cxnLst/>
              <a:rect r="r" b="b" t="t" l="l"/>
              <a:pathLst>
                <a:path h="581753" w="2390308">
                  <a:moveTo>
                    <a:pt x="0" y="0"/>
                  </a:moveTo>
                  <a:lnTo>
                    <a:pt x="2390308" y="0"/>
                  </a:lnTo>
                  <a:lnTo>
                    <a:pt x="2390308" y="581753"/>
                  </a:lnTo>
                  <a:lnTo>
                    <a:pt x="0" y="581753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90308" cy="629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04132" y="2593280"/>
            <a:ext cx="3501291" cy="1569751"/>
            <a:chOff x="0" y="0"/>
            <a:chExt cx="922151" cy="413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05423" y="2581471"/>
            <a:ext cx="7895848" cy="1581560"/>
            <a:chOff x="0" y="0"/>
            <a:chExt cx="2079565" cy="416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2579"/>
            <a:ext cx="6328237" cy="10287000"/>
            <a:chOff x="0" y="0"/>
            <a:chExt cx="862352" cy="14018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2352" cy="1401815"/>
            </a:xfrm>
            <a:custGeom>
              <a:avLst/>
              <a:gdLst/>
              <a:ahLst/>
              <a:cxnLst/>
              <a:rect r="r" b="b" t="t" l="l"/>
              <a:pathLst>
                <a:path h="1401815" w="862352">
                  <a:moveTo>
                    <a:pt x="0" y="0"/>
                  </a:moveTo>
                  <a:lnTo>
                    <a:pt x="862352" y="0"/>
                  </a:lnTo>
                  <a:lnTo>
                    <a:pt x="862352" y="1401815"/>
                  </a:lnTo>
                  <a:lnTo>
                    <a:pt x="0" y="1401815"/>
                  </a:lnTo>
                  <a:close/>
                </a:path>
              </a:pathLst>
            </a:custGeom>
            <a:blipFill>
              <a:blip r:embed="rId2"/>
              <a:stretch>
                <a:fillRect l="-4151" t="0" r="-415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04132" y="4050683"/>
            <a:ext cx="3501291" cy="1569751"/>
            <a:chOff x="0" y="0"/>
            <a:chExt cx="922151" cy="413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05423" y="4038873"/>
            <a:ext cx="7895848" cy="1581560"/>
            <a:chOff x="0" y="0"/>
            <a:chExt cx="2079565" cy="416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197447" y="5629959"/>
            <a:ext cx="7825344" cy="4695206"/>
          </a:xfrm>
          <a:custGeom>
            <a:avLst/>
            <a:gdLst/>
            <a:ahLst/>
            <a:cxnLst/>
            <a:rect r="r" b="b" t="t" l="l"/>
            <a:pathLst>
              <a:path h="4695206" w="7825344">
                <a:moveTo>
                  <a:pt x="0" y="0"/>
                </a:moveTo>
                <a:lnTo>
                  <a:pt x="7825344" y="0"/>
                </a:lnTo>
                <a:lnTo>
                  <a:pt x="7825344" y="4695206"/>
                </a:lnTo>
                <a:lnTo>
                  <a:pt x="0" y="4695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382557" y="2984138"/>
            <a:ext cx="1944439" cy="7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BIAS AWARENESS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31443" y="3009175"/>
            <a:ext cx="6843808" cy="66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There is a difference in accuracy in diagnosing ADHD patients between males and females </a:t>
            </a:r>
            <a:r>
              <a:rPr lang="en-US" b="true" sz="1876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(4.5%)</a:t>
            </a: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in favor of male patients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04132" y="353812"/>
            <a:ext cx="9902362" cy="222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46"/>
              </a:lnSpc>
            </a:pPr>
            <a:r>
              <a:rPr lang="en-US" b="true" sz="7406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Insights &amp; Recommendations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82557" y="4441541"/>
            <a:ext cx="1944439" cy="7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MODEL ACCURACY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31443" y="4633265"/>
            <a:ext cx="6843808" cy="33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 Model provides an </a:t>
            </a:r>
            <a:r>
              <a:rPr lang="en-US" b="true" sz="1876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overall accuracy of 78.2%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050857"/>
            <a:ext cx="5089657" cy="1238721"/>
            <a:chOff x="0" y="0"/>
            <a:chExt cx="2390308" cy="581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0308" cy="581753"/>
            </a:xfrm>
            <a:custGeom>
              <a:avLst/>
              <a:gdLst/>
              <a:ahLst/>
              <a:cxnLst/>
              <a:rect r="r" b="b" t="t" l="l"/>
              <a:pathLst>
                <a:path h="581753" w="2390308">
                  <a:moveTo>
                    <a:pt x="0" y="0"/>
                  </a:moveTo>
                  <a:lnTo>
                    <a:pt x="2390308" y="0"/>
                  </a:lnTo>
                  <a:lnTo>
                    <a:pt x="2390308" y="581753"/>
                  </a:lnTo>
                  <a:lnTo>
                    <a:pt x="0" y="581753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90308" cy="629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04132" y="2593280"/>
            <a:ext cx="3501291" cy="1569751"/>
            <a:chOff x="0" y="0"/>
            <a:chExt cx="922151" cy="413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05423" y="2581471"/>
            <a:ext cx="7895848" cy="1581560"/>
            <a:chOff x="0" y="0"/>
            <a:chExt cx="2079565" cy="416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2579"/>
            <a:ext cx="6328237" cy="10287000"/>
            <a:chOff x="0" y="0"/>
            <a:chExt cx="862352" cy="14018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2352" cy="1401815"/>
            </a:xfrm>
            <a:custGeom>
              <a:avLst/>
              <a:gdLst/>
              <a:ahLst/>
              <a:cxnLst/>
              <a:rect r="r" b="b" t="t" l="l"/>
              <a:pathLst>
                <a:path h="1401815" w="862352">
                  <a:moveTo>
                    <a:pt x="0" y="0"/>
                  </a:moveTo>
                  <a:lnTo>
                    <a:pt x="862352" y="0"/>
                  </a:lnTo>
                  <a:lnTo>
                    <a:pt x="862352" y="1401815"/>
                  </a:lnTo>
                  <a:lnTo>
                    <a:pt x="0" y="1401815"/>
                  </a:lnTo>
                  <a:close/>
                </a:path>
              </a:pathLst>
            </a:custGeom>
            <a:blipFill>
              <a:blip r:embed="rId2"/>
              <a:stretch>
                <a:fillRect l="-4151" t="0" r="-4151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6604132" y="4172556"/>
            <a:ext cx="8431153" cy="3277611"/>
          </a:xfrm>
          <a:custGeom>
            <a:avLst/>
            <a:gdLst/>
            <a:ahLst/>
            <a:cxnLst/>
            <a:rect r="r" b="b" t="t" l="l"/>
            <a:pathLst>
              <a:path h="3277611" w="8431153">
                <a:moveTo>
                  <a:pt x="0" y="0"/>
                </a:moveTo>
                <a:lnTo>
                  <a:pt x="8431153" y="0"/>
                </a:lnTo>
                <a:lnTo>
                  <a:pt x="8431153" y="3277611"/>
                </a:lnTo>
                <a:lnTo>
                  <a:pt x="0" y="3277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61413" y="7459692"/>
            <a:ext cx="8026587" cy="2829886"/>
          </a:xfrm>
          <a:custGeom>
            <a:avLst/>
            <a:gdLst/>
            <a:ahLst/>
            <a:cxnLst/>
            <a:rect r="r" b="b" t="t" l="l"/>
            <a:pathLst>
              <a:path h="2829886" w="8026587">
                <a:moveTo>
                  <a:pt x="0" y="0"/>
                </a:moveTo>
                <a:lnTo>
                  <a:pt x="8026587" y="0"/>
                </a:lnTo>
                <a:lnTo>
                  <a:pt x="8026587" y="2829887"/>
                </a:lnTo>
                <a:lnTo>
                  <a:pt x="0" y="28298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258752" y="2964058"/>
            <a:ext cx="2192050" cy="7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MODEL EXAPLINABILITY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31443" y="3009175"/>
            <a:ext cx="6843808" cy="66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GPs can</a:t>
            </a:r>
            <a:r>
              <a:rPr lang="en-US" b="true" sz="1876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 understand why </a:t>
            </a: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 model diagnosed the patient that way and with</a:t>
            </a:r>
            <a:r>
              <a:rPr lang="en-US" b="true" sz="1876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 what % </a:t>
            </a: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is the model sure of that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04132" y="353812"/>
            <a:ext cx="9902362" cy="222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46"/>
              </a:lnSpc>
            </a:pPr>
            <a:r>
              <a:rPr lang="en-US" b="true" sz="7406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Insights &amp;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451732" cy="10289579"/>
          </a:xfrm>
          <a:custGeom>
            <a:avLst/>
            <a:gdLst/>
            <a:ahLst/>
            <a:cxnLst/>
            <a:rect r="r" b="b" t="t" l="l"/>
            <a:pathLst>
              <a:path h="10289579" w="6451732">
                <a:moveTo>
                  <a:pt x="0" y="0"/>
                </a:moveTo>
                <a:lnTo>
                  <a:pt x="6451732" y="0"/>
                </a:lnTo>
                <a:lnTo>
                  <a:pt x="6451732" y="10289579"/>
                </a:lnTo>
                <a:lnTo>
                  <a:pt x="0" y="10289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984" t="0" r="-7166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83367" y="952500"/>
            <a:ext cx="9902362" cy="119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46"/>
              </a:lnSpc>
            </a:pPr>
            <a:r>
              <a:rPr lang="en-US" b="true" sz="7406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Conclusion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04132" y="2966485"/>
            <a:ext cx="3501291" cy="1581560"/>
            <a:chOff x="0" y="0"/>
            <a:chExt cx="922151" cy="4165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2151" cy="416543"/>
            </a:xfrm>
            <a:custGeom>
              <a:avLst/>
              <a:gdLst/>
              <a:ahLst/>
              <a:cxnLst/>
              <a:rect r="r" b="b" t="t" l="l"/>
              <a:pathLst>
                <a:path h="416543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22151" cy="473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04132" y="4548045"/>
            <a:ext cx="3501291" cy="1569751"/>
            <a:chOff x="0" y="0"/>
            <a:chExt cx="922151" cy="413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B7BCC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04132" y="6117796"/>
            <a:ext cx="3501291" cy="1569751"/>
            <a:chOff x="0" y="0"/>
            <a:chExt cx="922151" cy="413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05423" y="2966485"/>
            <a:ext cx="7895848" cy="1589513"/>
            <a:chOff x="0" y="0"/>
            <a:chExt cx="2079565" cy="4186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79565" cy="418637"/>
            </a:xfrm>
            <a:custGeom>
              <a:avLst/>
              <a:gdLst/>
              <a:ahLst/>
              <a:cxnLst/>
              <a:rect r="r" b="b" t="t" l="l"/>
              <a:pathLst>
                <a:path h="418637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8637"/>
                  </a:lnTo>
                  <a:lnTo>
                    <a:pt x="0" y="418637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079565" cy="475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05423" y="4548045"/>
            <a:ext cx="7895848" cy="1581560"/>
            <a:chOff x="0" y="0"/>
            <a:chExt cx="2079565" cy="416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05423" y="6105986"/>
            <a:ext cx="7895848" cy="1581560"/>
            <a:chOff x="0" y="0"/>
            <a:chExt cx="2079565" cy="4165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604132" y="7575198"/>
            <a:ext cx="3501291" cy="1569751"/>
            <a:chOff x="0" y="0"/>
            <a:chExt cx="922151" cy="4134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2151" cy="413432"/>
            </a:xfrm>
            <a:custGeom>
              <a:avLst/>
              <a:gdLst/>
              <a:ahLst/>
              <a:cxnLst/>
              <a:rect r="r" b="b" t="t" l="l"/>
              <a:pathLst>
                <a:path h="413432" w="922151">
                  <a:moveTo>
                    <a:pt x="0" y="0"/>
                  </a:moveTo>
                  <a:lnTo>
                    <a:pt x="922151" y="0"/>
                  </a:lnTo>
                  <a:lnTo>
                    <a:pt x="922151" y="413432"/>
                  </a:lnTo>
                  <a:lnTo>
                    <a:pt x="0" y="413432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22151" cy="470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05423" y="7563389"/>
            <a:ext cx="7895848" cy="1581560"/>
            <a:chOff x="0" y="0"/>
            <a:chExt cx="2079565" cy="4165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79565" cy="416543"/>
            </a:xfrm>
            <a:custGeom>
              <a:avLst/>
              <a:gdLst/>
              <a:ahLst/>
              <a:cxnLst/>
              <a:rect r="r" b="b" t="t" l="l"/>
              <a:pathLst>
                <a:path h="416543" w="2079565">
                  <a:moveTo>
                    <a:pt x="0" y="0"/>
                  </a:moveTo>
                  <a:lnTo>
                    <a:pt x="2079565" y="0"/>
                  </a:lnTo>
                  <a:lnTo>
                    <a:pt x="2079565" y="416543"/>
                  </a:lnTo>
                  <a:lnTo>
                    <a:pt x="0" y="416543"/>
                  </a:lnTo>
                  <a:close/>
                </a:path>
              </a:pathLst>
            </a:custGeom>
            <a:solidFill>
              <a:srgbClr val="DADDE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079565" cy="473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405031" y="3528793"/>
            <a:ext cx="1899493" cy="368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ADHD MODEL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83822" y="5110353"/>
            <a:ext cx="1941909" cy="368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SEX MODEL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82557" y="6508654"/>
            <a:ext cx="1944439" cy="7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BIAS AWARENESS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31443" y="3421509"/>
            <a:ext cx="6843808" cy="62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 ADHD model </a:t>
            </a:r>
            <a:r>
              <a:rPr lang="en-US" b="true" sz="1777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fulfils the requirements </a:t>
            </a:r>
            <a:r>
              <a:rPr lang="en-US" sz="177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However, not ready for deployment</a:t>
            </a:r>
            <a:r>
              <a:rPr lang="en-US" b="true" sz="1777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sz="177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yet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31443" y="5003070"/>
            <a:ext cx="6843808" cy="62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8"/>
              </a:lnSpc>
              <a:spcBef>
                <a:spcPct val="0"/>
              </a:spcBef>
            </a:pPr>
            <a:r>
              <a:rPr lang="en-US" sz="177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</a:t>
            </a:r>
            <a:r>
              <a:rPr lang="en-US" b="true" sz="1777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 Sex identifier model is irrelevant</a:t>
            </a:r>
            <a:r>
              <a:rPr lang="en-US" sz="1777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to the prediction of ADHD to female patients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31443" y="6533690"/>
            <a:ext cx="6843808" cy="66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 model is providing high accuracy but still a </a:t>
            </a:r>
            <a:r>
              <a:rPr lang="en-US" b="true" sz="1876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4.5% bias</a:t>
            </a: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in the medical field is not acceptable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82557" y="8137506"/>
            <a:ext cx="1944439" cy="368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2D2D3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FUTURE FIXES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31443" y="7824405"/>
            <a:ext cx="6843808" cy="100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There seems to be</a:t>
            </a:r>
            <a:r>
              <a:rPr lang="en-US" b="true" sz="1876">
                <a:solidFill>
                  <a:srgbClr val="2D2D30"/>
                </a:solidFill>
                <a:latin typeface="Rubik Bold"/>
                <a:ea typeface="Rubik Bold"/>
                <a:cs typeface="Rubik Bold"/>
                <a:sym typeface="Rubik Bold"/>
              </a:rPr>
              <a:t> lack of data for female patients</a:t>
            </a:r>
            <a:r>
              <a:rPr lang="en-US" sz="1876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 which increase the difficulty of reaching good results in any future work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997945" y="6084040"/>
            <a:ext cx="0" cy="1456674"/>
          </a:xfrm>
          <a:prstGeom prst="line">
            <a:avLst/>
          </a:prstGeom>
          <a:ln cap="flat" w="9525">
            <a:solidFill>
              <a:srgbClr val="7C84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6922285" y="6084040"/>
            <a:ext cx="4165" cy="1460226"/>
          </a:xfrm>
          <a:prstGeom prst="line">
            <a:avLst/>
          </a:prstGeom>
          <a:ln cap="flat" w="9525">
            <a:solidFill>
              <a:srgbClr val="7C84A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815950" y="6084040"/>
            <a:ext cx="25347" cy="1456674"/>
          </a:xfrm>
          <a:prstGeom prst="line">
            <a:avLst/>
          </a:prstGeom>
          <a:ln cap="flat" w="9525">
            <a:solidFill>
              <a:srgbClr val="7C84A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5214108"/>
            <a:ext cx="3938491" cy="869931"/>
            <a:chOff x="0" y="0"/>
            <a:chExt cx="5251321" cy="115990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5251321" cy="1159909"/>
              <a:chOff x="0" y="0"/>
              <a:chExt cx="1342102" cy="29644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42102" cy="296443"/>
              </a:xfrm>
              <a:custGeom>
                <a:avLst/>
                <a:gdLst/>
                <a:ahLst/>
                <a:cxnLst/>
                <a:rect r="r" b="b" t="t" l="l"/>
                <a:pathLst>
                  <a:path h="296443" w="1342102">
                    <a:moveTo>
                      <a:pt x="0" y="0"/>
                    </a:moveTo>
                    <a:lnTo>
                      <a:pt x="1342102" y="0"/>
                    </a:lnTo>
                    <a:lnTo>
                      <a:pt x="1342102" y="296443"/>
                    </a:lnTo>
                    <a:lnTo>
                      <a:pt x="0" y="296443"/>
                    </a:lnTo>
                    <a:close/>
                  </a:path>
                </a:pathLst>
              </a:custGeom>
              <a:solidFill>
                <a:srgbClr val="B7BCC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1342102" cy="3631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09491" y="284044"/>
              <a:ext cx="4545644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D2D3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Early Risk Prediction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67191" y="5214108"/>
            <a:ext cx="3918521" cy="869931"/>
            <a:chOff x="0" y="0"/>
            <a:chExt cx="5224694" cy="115990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224694" cy="1159909"/>
              <a:chOff x="0" y="0"/>
              <a:chExt cx="1335297" cy="29644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35297" cy="296443"/>
              </a:xfrm>
              <a:custGeom>
                <a:avLst/>
                <a:gdLst/>
                <a:ahLst/>
                <a:cxnLst/>
                <a:rect r="r" b="b" t="t" l="l"/>
                <a:pathLst>
                  <a:path h="296443" w="1335297">
                    <a:moveTo>
                      <a:pt x="0" y="0"/>
                    </a:moveTo>
                    <a:lnTo>
                      <a:pt x="1335297" y="0"/>
                    </a:lnTo>
                    <a:lnTo>
                      <a:pt x="1335297" y="296443"/>
                    </a:lnTo>
                    <a:lnTo>
                      <a:pt x="0" y="296443"/>
                    </a:lnTo>
                    <a:close/>
                  </a:path>
                </a:pathLst>
              </a:custGeom>
              <a:solidFill>
                <a:srgbClr val="DADDE6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66675"/>
                <a:ext cx="1335297" cy="3631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90623" y="284044"/>
              <a:ext cx="4509893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D2D3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Correlation Studies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64718" y="5214108"/>
            <a:ext cx="3902464" cy="869931"/>
            <a:chOff x="0" y="0"/>
            <a:chExt cx="5203286" cy="115990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203286" cy="1159909"/>
              <a:chOff x="0" y="0"/>
              <a:chExt cx="1329826" cy="29644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29826" cy="296443"/>
              </a:xfrm>
              <a:custGeom>
                <a:avLst/>
                <a:gdLst/>
                <a:ahLst/>
                <a:cxnLst/>
                <a:rect r="r" b="b" t="t" l="l"/>
                <a:pathLst>
                  <a:path h="296443" w="1329826">
                    <a:moveTo>
                      <a:pt x="0" y="0"/>
                    </a:moveTo>
                    <a:lnTo>
                      <a:pt x="1329826" y="0"/>
                    </a:lnTo>
                    <a:lnTo>
                      <a:pt x="1329826" y="296443"/>
                    </a:lnTo>
                    <a:lnTo>
                      <a:pt x="0" y="296443"/>
                    </a:lnTo>
                    <a:close/>
                  </a:path>
                </a:pathLst>
              </a:custGeom>
              <a:solidFill>
                <a:srgbClr val="B7BCC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66675"/>
                <a:ext cx="1329826" cy="3631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19269" y="284044"/>
              <a:ext cx="4472979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D2D3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GP Dashboards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5400000">
            <a:off x="14739669" y="-3548331"/>
            <a:ext cx="2538083" cy="4558578"/>
          </a:xfrm>
          <a:custGeom>
            <a:avLst/>
            <a:gdLst/>
            <a:ahLst/>
            <a:cxnLst/>
            <a:rect r="r" b="b" t="t" l="l"/>
            <a:pathLst>
              <a:path h="4558578" w="2538083">
                <a:moveTo>
                  <a:pt x="0" y="0"/>
                </a:moveTo>
                <a:lnTo>
                  <a:pt x="2538084" y="0"/>
                </a:lnTo>
                <a:lnTo>
                  <a:pt x="2538084" y="4558578"/>
                </a:lnTo>
                <a:lnTo>
                  <a:pt x="0" y="4558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995782" y="-34031"/>
            <a:ext cx="4954568" cy="10321031"/>
          </a:xfrm>
          <a:custGeom>
            <a:avLst/>
            <a:gdLst/>
            <a:ahLst/>
            <a:cxnLst/>
            <a:rect r="r" b="b" t="t" l="l"/>
            <a:pathLst>
              <a:path h="10321031" w="4954568">
                <a:moveTo>
                  <a:pt x="0" y="0"/>
                </a:moveTo>
                <a:lnTo>
                  <a:pt x="4954567" y="0"/>
                </a:lnTo>
                <a:lnTo>
                  <a:pt x="4954567" y="10321031"/>
                </a:lnTo>
                <a:lnTo>
                  <a:pt x="0" y="10321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4202" t="0" r="-33548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60818" y="7483563"/>
            <a:ext cx="347425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Identifying potential ADHD risks in patients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85158" y="7487116"/>
            <a:ext cx="3474254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Analyzing relationships between various factors and ADHD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04169" y="7483563"/>
            <a:ext cx="347425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sz="2000">
                <a:solidFill>
                  <a:srgbClr val="2D2D30"/>
                </a:solidFill>
                <a:latin typeface="Rubik"/>
                <a:ea typeface="Rubik"/>
                <a:cs typeface="Rubik"/>
                <a:sym typeface="Rubik"/>
              </a:rPr>
              <a:t>Creating user-friendly tools for general practitioners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8700" y="1564801"/>
            <a:ext cx="9586604" cy="2773007"/>
            <a:chOff x="0" y="0"/>
            <a:chExt cx="12782139" cy="369734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3184687"/>
              <a:ext cx="12782139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0"/>
                </a:lnSpc>
              </a:pPr>
              <a:r>
                <a:rPr lang="en-US" sz="2300">
                  <a:solidFill>
                    <a:srgbClr val="2D2D30"/>
                  </a:solidFill>
                  <a:latin typeface="Rubik"/>
                  <a:ea typeface="Rubik"/>
                  <a:cs typeface="Rubik"/>
                  <a:sym typeface="Rubik"/>
                </a:rPr>
                <a:t>Exploring innovative applications of NHS data for ADHD insights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-76200"/>
              <a:ext cx="12782139" cy="2997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250"/>
                </a:lnSpc>
              </a:pPr>
              <a:r>
                <a:rPr lang="en-US" sz="7500">
                  <a:solidFill>
                    <a:srgbClr val="2D2D30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Future Opportunities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DAGlN0-ODd0</dc:identifier>
  <dcterms:modified xsi:type="dcterms:W3CDTF">2011-08-01T06:04:30Z</dcterms:modified>
  <cp:revision>1</cp:revision>
  <dc:title>Reducing Gender Bias in Clinical Practice. Presented by: Amer Harfoush - Registration Number: 2401810</dc:title>
</cp:coreProperties>
</file>